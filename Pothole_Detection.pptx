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146847059" r:id="rId10"/>
    <p:sldId id="266" r:id="rId11"/>
    <p:sldId id="267" r:id="rId12"/>
    <p:sldId id="2146847060" r:id="rId13"/>
    <p:sldId id="2146847061" r:id="rId14"/>
    <p:sldId id="268" r:id="rId15"/>
    <p:sldId id="2146847062" r:id="rId16"/>
    <p:sldId id="2146847063" r:id="rId17"/>
    <p:sldId id="269" r:id="rId18"/>
    <p:sldId id="2146847064"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6/20/2026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6/20/2026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6/20/2026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6/20/2026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6/20/2026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6/20/2026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6/20/2026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6/20/2026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6/20/2026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6/20/2026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6/20/2026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6/20/2026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  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hyperlink" Target="https://www.sqlite.org/docs.html" TargetMode="External"/><Relationship Id="rId3" Type="http://schemas.openxmlformats.org/officeDocument/2006/relationships/hyperlink" Target="https://docs.streamlit.io/" TargetMode="External"/><Relationship Id="rId7" Type="http://schemas.openxmlformats.org/officeDocument/2006/relationships/hyperlink" Target="https://plotly.com/python/" TargetMode="External"/><Relationship Id="rId2" Type="http://schemas.openxmlformats.org/officeDocument/2006/relationships/hyperlink" Target="https://ai.google.dev/" TargetMode="External"/><Relationship Id="rId1" Type="http://schemas.openxmlformats.org/officeDocument/2006/relationships/slideLayout" Target="../slideLayouts/slideLayout2.xml"/><Relationship Id="rId6" Type="http://schemas.openxmlformats.org/officeDocument/2006/relationships/hyperlink" Target="https://numpy.org/doc/" TargetMode="External"/><Relationship Id="rId5" Type="http://schemas.openxmlformats.org/officeDocument/2006/relationships/hyperlink" Target="https://pandas.pydata.org/docs/" TargetMode="External"/><Relationship Id="rId10" Type="http://schemas.openxmlformats.org/officeDocument/2006/relationships/hyperlink" Target="https://github.com/Hemaa-varsh/Pothole-detection-app" TargetMode="External"/><Relationship Id="rId4" Type="http://schemas.openxmlformats.org/officeDocument/2006/relationships/hyperlink" Target="https://scikit-learn.org/stable/" TargetMode="External"/><Relationship Id="rId9" Type="http://schemas.openxmlformats.org/officeDocument/2006/relationships/hyperlink" Target="https://www.kaggle.com/datasets/siddharth564/carebridge-synthetic-healthcare-datase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Hemaa-varsh/Pothole-detection-app.git"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pothole-detection-app.streamlit.ap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643928" y="1500000"/>
            <a:ext cx="10570560" cy="1620000"/>
          </a:xfrm>
        </p:spPr>
        <p:txBody>
          <a:bodyPr/>
          <a:lstStyle/>
          <a:p>
            <a:pPr algn="ctr"/>
            <a:r>
              <a:rPr lang="en-US" sz="2800" b="1" dirty="0" err="1">
                <a:solidFill>
                  <a:schemeClr val="accent1"/>
                </a:solidFill>
                <a:latin typeface="Arial" panose="020B0604020202020204" pitchFamily="34" charset="0"/>
                <a:cs typeface="Arial" panose="020B0604020202020204" pitchFamily="34" charset="0"/>
              </a:rPr>
              <a:t>ReAl-Time</a:t>
            </a:r>
            <a:r>
              <a:rPr lang="en-US" sz="2800" b="1" dirty="0">
                <a:solidFill>
                  <a:schemeClr val="accent1"/>
                </a:solidFill>
                <a:latin typeface="Arial" panose="020B0604020202020204" pitchFamily="34" charset="0"/>
                <a:cs typeface="Arial" panose="020B0604020202020204" pitchFamily="34" charset="0"/>
              </a:rPr>
              <a:t> Pothole Detection &amp; Smart Road Monitoring Using Computer Vision and Deep Learning</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350000"/>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HEMAVARSHINI M</a:t>
            </a:r>
          </a:p>
          <a:p>
            <a:pPr marL="457200" indent="-457200">
              <a:buAutoNum type="arabicPeriod"/>
            </a:pPr>
            <a:r>
              <a:rPr lang="en-US" sz="2000" b="1" dirty="0">
                <a:solidFill>
                  <a:schemeClr val="accent1">
                    <a:lumMod val="75000"/>
                  </a:schemeClr>
                </a:solidFill>
                <a:latin typeface="Arial"/>
                <a:cs typeface="Arial"/>
              </a:rPr>
              <a:t>College Name-  RMD ENGINEERING COLLEGE</a:t>
            </a:r>
          </a:p>
          <a:p>
            <a:pPr marL="457200" indent="-457200">
              <a:buAutoNum type="arabicPeriod"/>
            </a:pPr>
            <a:r>
              <a:rPr lang="en-US" sz="2000" b="1" dirty="0">
                <a:solidFill>
                  <a:schemeClr val="accent1">
                    <a:lumMod val="75000"/>
                  </a:schemeClr>
                </a:solidFill>
                <a:latin typeface="Arial"/>
                <a:cs typeface="Arial"/>
              </a:rPr>
              <a:t>Department- ELECTRONICS AND COMMUNICATION   ENGINEERING</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348792" y="1498860"/>
            <a:ext cx="11101760" cy="3469065"/>
          </a:xfrm>
        </p:spPr>
        <p:txBody>
          <a:bodyPr>
            <a:normAutofit/>
          </a:bodyPr>
          <a:lstStyle/>
          <a:p>
            <a:pPr marL="0" indent="0">
              <a:buNone/>
            </a:pPr>
            <a:r>
              <a:rPr lang="en-GB" sz="1800" dirty="0"/>
              <a:t>Roads in both urban and rural areas deteriorate continuously due to traffic load, weather, and ageing infrastructure, resulting in potholes that pose serious safety hazards and damage vehicles.</a:t>
            </a:r>
          </a:p>
          <a:p>
            <a:pPr marL="0" indent="0">
              <a:buNone/>
            </a:pPr>
            <a:r>
              <a:rPr lang="en-GB" sz="1800" dirty="0"/>
              <a:t> Municipal authorities currently depend on manual inspection drives, citizen phone complaints, or periodic visual surveys to identify damaged road stretches. These methods are slow, inconsistent, and cover only a small fraction of the total road network at any given time. As a result, many potholes remain unreported for weeks, complaint records are not centralized, and there is no objective way to compare the condition of one road against another or prioritise repair budgets. Administrators therefore lack a real-time, data-driven view of road health across the area they manage.</a:t>
            </a:r>
            <a:endParaRPr lang="en-IN" sz="18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D75AB3D0-9AE7-0CC6-5CC2-342BD8D1D977}"/>
              </a:ext>
            </a:extLst>
          </p:cNvPr>
          <p:cNvSpPr/>
          <p:nvPr/>
        </p:nvSpPr>
        <p:spPr>
          <a:xfrm>
            <a:off x="430364" y="5561814"/>
            <a:ext cx="1313595" cy="2123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3E5E910D-C141-1C86-A00B-3C742EDEE425}"/>
              </a:ext>
            </a:extLst>
          </p:cNvPr>
          <p:cNvSpPr/>
          <p:nvPr/>
        </p:nvSpPr>
        <p:spPr>
          <a:xfrm>
            <a:off x="430364" y="4600280"/>
            <a:ext cx="2689908" cy="3582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FD7083A5-9574-2D2E-645A-62FD4F1B045F}"/>
              </a:ext>
            </a:extLst>
          </p:cNvPr>
          <p:cNvSpPr/>
          <p:nvPr/>
        </p:nvSpPr>
        <p:spPr>
          <a:xfrm>
            <a:off x="430364" y="3855563"/>
            <a:ext cx="1558692" cy="2758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568F291-66E0-3A81-CC82-926B836FB76E}"/>
              </a:ext>
            </a:extLst>
          </p:cNvPr>
          <p:cNvSpPr/>
          <p:nvPr/>
        </p:nvSpPr>
        <p:spPr>
          <a:xfrm>
            <a:off x="430364" y="2941163"/>
            <a:ext cx="1662387" cy="2758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FC0F961D-B122-CE5B-8364-E4277E24931C}"/>
              </a:ext>
            </a:extLst>
          </p:cNvPr>
          <p:cNvSpPr/>
          <p:nvPr/>
        </p:nvSpPr>
        <p:spPr>
          <a:xfrm>
            <a:off x="430364" y="2130458"/>
            <a:ext cx="1879203" cy="2758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9C055218-EE23-EA4B-E221-39605DAB2C5E}"/>
              </a:ext>
            </a:extLst>
          </p:cNvPr>
          <p:cNvSpPr/>
          <p:nvPr/>
        </p:nvSpPr>
        <p:spPr>
          <a:xfrm>
            <a:off x="430364" y="1232452"/>
            <a:ext cx="1558692" cy="275837"/>
          </a:xfrm>
          <a:prstGeom prst="roundRect">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IN">
              <a:solidFill>
                <a:schemeClr val="tx1"/>
              </a:solidFill>
            </a:endParaRPr>
          </a:p>
        </p:txBody>
      </p:sp>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3" name="Rectangle 1">
            <a:extLst>
              <a:ext uri="{FF2B5EF4-FFF2-40B4-BE49-F238E27FC236}">
                <a16:creationId xmlns:a16="http://schemas.microsoft.com/office/drawing/2014/main" id="{C551FE93-90CF-CC51-FC5E-8135D2D67DDF}"/>
              </a:ext>
            </a:extLst>
          </p:cNvPr>
          <p:cNvSpPr>
            <a:spLocks noGrp="1" noChangeArrowheads="1"/>
          </p:cNvSpPr>
          <p:nvPr>
            <p:ph idx="1"/>
          </p:nvPr>
        </p:nvSpPr>
        <p:spPr bwMode="auto">
          <a:xfrm>
            <a:off x="430364" y="1232452"/>
            <a:ext cx="11029616"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Data Collection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 dataset of 1,455 annotated road images was sourced from Roboflow Universe, containing potholes captured under varied conditions including daylight, night, rain, and snow, with YOLO-format bounding box labels.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Data Preprocessing</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Images and labels were validated for consistency, orphan annotations were removed, and the dataset was organised into train, validation, and test splits using Python, OpenCV, and the Ultralytics framework.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Model Selection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YOLOv8 was selected over CNN, Faster R-CNN, and SSD architectures for its single-stage real-time detection speed, anchor-free design, and strong accuracy on small custom datasets through transfer learning.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Model Training</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 YOLOv8s model pretrained on COCO was fine-tuned for 50 epochs on the pothole dataset using a Tesla T4 GPU on Google Colab, with built-in augmentation including mosaic, flip, and HSV colour jitter.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Severity &amp; Road Health Logic</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Each detected pothole is classified as Small, Medium, or Large based on its bounding box area, and an aggregate Road Health Score (0 to 100) with a letter grade is computed to summarise overall road condition.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sng" strike="noStrike" cap="none" normalizeH="0" baseline="0" dirty="0">
                <a:ln>
                  <a:noFill/>
                </a:ln>
                <a:solidFill>
                  <a:schemeClr val="tx1"/>
                </a:solidFill>
                <a:effectLst/>
                <a:latin typeface="Arial" panose="020B0604020202020204" pitchFamily="34" charset="0"/>
              </a:rPr>
              <a:t>Deployment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 trained model is served through an interactive Streamlit web application, allowing users to upload road images, adjust the detection confidence threshold, and view annotated results in real time.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1192868"/>
            <a:ext cx="5972008"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Frontend:</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Streamlit (Python)</a:t>
            </a: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Backend:</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Python, Ultralytics</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Model Format:</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PyTorch (.pt weights)</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Artificial Intelligence:</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YOLOv8s (Object Detection)</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Computer Vision:</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OpenCV</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Data Processing:</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Pandas, NumPy</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Data Visualization:</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Matplotlib</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Model Storage:</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Local file </a:t>
            </a:r>
            <a:r>
              <a:rPr lang="en-US" altLang="en-US" sz="1200" dirty="0" err="1">
                <a:solidFill>
                  <a:schemeClr val="tx1"/>
                </a:solidFill>
                <a:latin typeface="Arial" panose="020B0604020202020204" pitchFamily="34" charset="0"/>
              </a:rPr>
              <a:t>(best.pt, 22.5MB)</a:t>
            </a: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Version Control:</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GitHub</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b="1" u="sng" dirty="0">
                <a:solidFill>
                  <a:schemeClr val="tx1"/>
                </a:solidFill>
                <a:latin typeface="Arial" panose="020B0604020202020204" pitchFamily="34" charset="0"/>
              </a:rPr>
              <a:t>Deployment:</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Streamlit</a:t>
            </a:r>
            <a:r>
              <a:rPr lang="en-US" altLang="en-US" sz="1200" dirty="0">
                <a:solidFill>
                  <a:schemeClr val="tx1"/>
                </a:solidFill>
                <a:latin typeface="Arial" panose="020B0604020202020204" pitchFamily="34" charset="0"/>
              </a:rPr>
              <a:t> Cloud</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055F255-3724-EBB6-1022-012C1A093CBC}"/>
              </a:ext>
            </a:extLst>
          </p:cNvPr>
          <p:cNvPicPr>
            <a:picLocks noChangeAspect="1"/>
          </p:cNvPicPr>
          <p:nvPr/>
        </p:nvPicPr>
        <p:blipFill>
          <a:blip r:embed="rId2"/>
          <a:stretch>
            <a:fillRect/>
          </a:stretch>
        </p:blipFill>
        <p:spPr>
          <a:xfrm>
            <a:off x="2886173" y="829558"/>
            <a:ext cx="8209175" cy="7875809"/>
          </a:xfrm>
          <a:prstGeom prst="rect">
            <a:avLst/>
          </a:prstGeom>
        </p:spPr>
      </p:pic>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A104F5-BAE0-6360-E87C-327C5FF44EC2}"/>
              </a:ext>
            </a:extLst>
          </p:cNvPr>
          <p:cNvPicPr>
            <a:picLocks noChangeAspect="1"/>
          </p:cNvPicPr>
          <p:nvPr/>
        </p:nvPicPr>
        <p:blipFill>
          <a:blip r:embed="rId2"/>
          <a:stretch>
            <a:fillRect/>
          </a:stretch>
        </p:blipFill>
        <p:spPr>
          <a:xfrm>
            <a:off x="0" y="575035"/>
            <a:ext cx="12192000" cy="6281251"/>
          </a:xfrm>
          <a:prstGeom prst="rect">
            <a:avLst/>
          </a:prstGeom>
        </p:spPr>
      </p:pic>
    </p:spTree>
    <p:extLst>
      <p:ext uri="{BB962C8B-B14F-4D97-AF65-F5344CB8AC3E}">
        <p14:creationId xmlns:p14="http://schemas.microsoft.com/office/powerpoint/2010/main" val="122442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10" name="TextBox 9">
            <a:extLst>
              <a:ext uri="{FF2B5EF4-FFF2-40B4-BE49-F238E27FC236}">
                <a16:creationId xmlns:a16="http://schemas.microsoft.com/office/drawing/2014/main" id="{7D7989B1-E8E0-2BB1-1AF7-CFAD7C7231CB}"/>
              </a:ext>
            </a:extLst>
          </p:cNvPr>
          <p:cNvSpPr txBox="1"/>
          <p:nvPr/>
        </p:nvSpPr>
        <p:spPr>
          <a:xfrm>
            <a:off x="581192" y="1232452"/>
            <a:ext cx="8274377" cy="5478423"/>
          </a:xfrm>
          <a:prstGeom prst="rect">
            <a:avLst/>
          </a:prstGeom>
          <a:noFill/>
        </p:spPr>
        <p:txBody>
          <a:bodyPr wrap="square">
            <a:spAutoFit/>
          </a:bodyPr>
          <a:lstStyle/>
          <a:p>
            <a:r>
              <a:rPr lang="en-IN" sz="1400" dirty="0"/>
              <a:t>Machine Learning Algorithm:</a:t>
            </a:r>
          </a:p>
          <a:p>
            <a:r>
              <a:rPr lang="en-IN" sz="1400" dirty="0"/>
              <a:t>YOLOv8s (You Only Look Once, version 8 - Small variant)</a:t>
            </a:r>
          </a:p>
          <a:p>
            <a:endParaRPr lang="en-IN" sz="1400" dirty="0"/>
          </a:p>
          <a:p>
            <a:r>
              <a:rPr lang="en-IN" sz="1400" dirty="0"/>
              <a:t>Purpose:</a:t>
            </a:r>
          </a:p>
          <a:p>
            <a:r>
              <a:rPr lang="en-IN" sz="1400" dirty="0"/>
              <a:t>Detect potholes in road images and classify their severity in real time.</a:t>
            </a:r>
          </a:p>
          <a:p>
            <a:endParaRPr lang="en-IN" sz="1400" dirty="0"/>
          </a:p>
          <a:p>
            <a:r>
              <a:rPr lang="en-IN" sz="1400" dirty="0"/>
              <a:t>Input:</a:t>
            </a:r>
          </a:p>
          <a:p>
            <a:r>
              <a:rPr lang="en-IN" sz="1400" dirty="0"/>
              <a:t>• Road image (JPG / PNG) uploaded by the user</a:t>
            </a:r>
          </a:p>
          <a:p>
            <a:r>
              <a:rPr lang="en-IN" sz="1400" dirty="0"/>
              <a:t>• User-adjustable confidence threshold</a:t>
            </a:r>
          </a:p>
          <a:p>
            <a:endParaRPr lang="en-IN" sz="1400" dirty="0"/>
          </a:p>
          <a:p>
            <a:r>
              <a:rPr lang="en-IN" sz="1400" dirty="0"/>
              <a:t>Output:</a:t>
            </a:r>
          </a:p>
          <a:p>
            <a:r>
              <a:rPr lang="en-IN" sz="1400" dirty="0"/>
              <a:t>• Bounding boxes around detected potholes</a:t>
            </a:r>
          </a:p>
          <a:p>
            <a:r>
              <a:rPr lang="en-IN" sz="1400" dirty="0"/>
              <a:t>• Confidence score per detection</a:t>
            </a:r>
          </a:p>
          <a:p>
            <a:r>
              <a:rPr lang="en-IN" sz="1400" dirty="0"/>
              <a:t>• Severity label (Small / Medium / Large)</a:t>
            </a:r>
          </a:p>
          <a:p>
            <a:r>
              <a:rPr lang="en-IN" sz="1400" dirty="0"/>
              <a:t>• Road Health Score (0–100) with letter grade</a:t>
            </a:r>
          </a:p>
          <a:p>
            <a:endParaRPr lang="en-IN" sz="1400" dirty="0"/>
          </a:p>
          <a:p>
            <a:r>
              <a:rPr lang="en-IN" sz="1400" dirty="0"/>
              <a:t>Deployment:</a:t>
            </a:r>
          </a:p>
          <a:p>
            <a:r>
              <a:rPr lang="en-IN" sz="1400" dirty="0"/>
              <a:t>• Application deployed using Streamlit Cloud</a:t>
            </a:r>
          </a:p>
          <a:p>
            <a:r>
              <a:rPr lang="en-IN" sz="1400" dirty="0"/>
              <a:t>• Source code hosted on GitHub</a:t>
            </a:r>
          </a:p>
          <a:p>
            <a:r>
              <a:rPr lang="en-IN" sz="1400" dirty="0"/>
              <a:t>• Model trained on Google Colab (Tesla T4 GPU)</a:t>
            </a:r>
          </a:p>
          <a:p>
            <a:r>
              <a:rPr lang="en-IN" sz="1400" dirty="0"/>
              <a:t>• Trained weights deployed as a best.pt file (22.5 MB)</a:t>
            </a:r>
          </a:p>
          <a:p>
            <a:endParaRPr lang="en-IN" sz="1400" dirty="0"/>
          </a:p>
          <a:p>
            <a:r>
              <a:rPr lang="en-IN" sz="1400" dirty="0"/>
              <a:t>YOLOv8 was selected for its single-stage real-time detection speed, anchor-free design, and strong accuracy on small custom datasets through transfer learning.</a:t>
            </a:r>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 </a:t>
            </a:r>
            <a:r>
              <a:rPr lang="en-US" sz="4400" b="1" dirty="0" err="1">
                <a:solidFill>
                  <a:schemeClr val="accent1"/>
                </a:solidFill>
                <a:latin typeface="Arial"/>
                <a:ea typeface="+mj-lt"/>
                <a:cs typeface="Arial"/>
              </a:rPr>
              <a:t>stasistics</a:t>
            </a:r>
            <a:endParaRPr lang="en-US" dirty="0"/>
          </a:p>
        </p:txBody>
      </p:sp>
      <p:pic>
        <p:nvPicPr>
          <p:cNvPr id="6" name="Picture 5">
            <a:extLst>
              <a:ext uri="{FF2B5EF4-FFF2-40B4-BE49-F238E27FC236}">
                <a16:creationId xmlns:a16="http://schemas.microsoft.com/office/drawing/2014/main" id="{C634F75A-6209-D71A-28B4-188513C297B6}"/>
              </a:ext>
            </a:extLst>
          </p:cNvPr>
          <p:cNvPicPr>
            <a:picLocks noChangeAspect="1"/>
          </p:cNvPicPr>
          <p:nvPr/>
        </p:nvPicPr>
        <p:blipFill>
          <a:blip r:embed="rId2"/>
          <a:stretch>
            <a:fillRect/>
          </a:stretch>
        </p:blipFill>
        <p:spPr>
          <a:xfrm>
            <a:off x="26955" y="1120688"/>
            <a:ext cx="4387291" cy="2625977"/>
          </a:xfrm>
          <a:prstGeom prst="rect">
            <a:avLst/>
          </a:prstGeom>
        </p:spPr>
      </p:pic>
      <p:pic>
        <p:nvPicPr>
          <p:cNvPr id="8" name="Picture 7">
            <a:extLst>
              <a:ext uri="{FF2B5EF4-FFF2-40B4-BE49-F238E27FC236}">
                <a16:creationId xmlns:a16="http://schemas.microsoft.com/office/drawing/2014/main" id="{8A42238B-08C7-4FD6-B673-0E42B9041107}"/>
              </a:ext>
            </a:extLst>
          </p:cNvPr>
          <p:cNvPicPr>
            <a:picLocks noChangeAspect="1"/>
          </p:cNvPicPr>
          <p:nvPr/>
        </p:nvPicPr>
        <p:blipFill>
          <a:blip r:embed="rId3"/>
          <a:stretch>
            <a:fillRect/>
          </a:stretch>
        </p:blipFill>
        <p:spPr>
          <a:xfrm>
            <a:off x="4171139" y="1120687"/>
            <a:ext cx="3923579" cy="2625977"/>
          </a:xfrm>
          <a:prstGeom prst="rect">
            <a:avLst/>
          </a:prstGeom>
        </p:spPr>
      </p:pic>
      <p:pic>
        <p:nvPicPr>
          <p:cNvPr id="10" name="Picture 9">
            <a:extLst>
              <a:ext uri="{FF2B5EF4-FFF2-40B4-BE49-F238E27FC236}">
                <a16:creationId xmlns:a16="http://schemas.microsoft.com/office/drawing/2014/main" id="{7072D509-B170-DCEE-A8EC-33686F434D88}"/>
              </a:ext>
            </a:extLst>
          </p:cNvPr>
          <p:cNvPicPr>
            <a:picLocks noChangeAspect="1"/>
          </p:cNvPicPr>
          <p:nvPr/>
        </p:nvPicPr>
        <p:blipFill>
          <a:blip r:embed="rId4"/>
          <a:stretch>
            <a:fillRect/>
          </a:stretch>
        </p:blipFill>
        <p:spPr>
          <a:xfrm>
            <a:off x="8228274" y="986519"/>
            <a:ext cx="3880595" cy="2681108"/>
          </a:xfrm>
          <a:prstGeom prst="rect">
            <a:avLst/>
          </a:prstGeom>
        </p:spPr>
      </p:pic>
      <p:pic>
        <p:nvPicPr>
          <p:cNvPr id="12" name="Picture 11">
            <a:extLst>
              <a:ext uri="{FF2B5EF4-FFF2-40B4-BE49-F238E27FC236}">
                <a16:creationId xmlns:a16="http://schemas.microsoft.com/office/drawing/2014/main" id="{AEEA21D2-DA59-1394-0E6B-F3641881308C}"/>
              </a:ext>
            </a:extLst>
          </p:cNvPr>
          <p:cNvPicPr>
            <a:picLocks noChangeAspect="1"/>
          </p:cNvPicPr>
          <p:nvPr/>
        </p:nvPicPr>
        <p:blipFill>
          <a:blip r:embed="rId5"/>
          <a:stretch>
            <a:fillRect/>
          </a:stretch>
        </p:blipFill>
        <p:spPr>
          <a:xfrm>
            <a:off x="270063" y="3880834"/>
            <a:ext cx="3901076" cy="2409179"/>
          </a:xfrm>
          <a:prstGeom prst="rect">
            <a:avLst/>
          </a:prstGeom>
        </p:spPr>
      </p:pic>
      <p:pic>
        <p:nvPicPr>
          <p:cNvPr id="14" name="Picture 13">
            <a:extLst>
              <a:ext uri="{FF2B5EF4-FFF2-40B4-BE49-F238E27FC236}">
                <a16:creationId xmlns:a16="http://schemas.microsoft.com/office/drawing/2014/main" id="{D26EB5E2-AF8C-FD79-D2B6-DBA5966728B5}"/>
              </a:ext>
            </a:extLst>
          </p:cNvPr>
          <p:cNvPicPr>
            <a:picLocks noChangeAspect="1"/>
          </p:cNvPicPr>
          <p:nvPr/>
        </p:nvPicPr>
        <p:blipFill>
          <a:blip r:embed="rId6"/>
          <a:stretch>
            <a:fillRect/>
          </a:stretch>
        </p:blipFill>
        <p:spPr>
          <a:xfrm>
            <a:off x="4193642" y="3880834"/>
            <a:ext cx="3901076" cy="2409179"/>
          </a:xfrm>
          <a:prstGeom prst="rect">
            <a:avLst/>
          </a:prstGeom>
        </p:spPr>
      </p:pic>
      <p:pic>
        <p:nvPicPr>
          <p:cNvPr id="18" name="Picture 17">
            <a:extLst>
              <a:ext uri="{FF2B5EF4-FFF2-40B4-BE49-F238E27FC236}">
                <a16:creationId xmlns:a16="http://schemas.microsoft.com/office/drawing/2014/main" id="{29FD50C3-C664-FBFC-EEE7-00ADC771925F}"/>
              </a:ext>
            </a:extLst>
          </p:cNvPr>
          <p:cNvPicPr>
            <a:picLocks noChangeAspect="1"/>
          </p:cNvPicPr>
          <p:nvPr/>
        </p:nvPicPr>
        <p:blipFill>
          <a:blip r:embed="rId7"/>
          <a:stretch>
            <a:fillRect/>
          </a:stretch>
        </p:blipFill>
        <p:spPr>
          <a:xfrm>
            <a:off x="8617248" y="4250167"/>
            <a:ext cx="3102648" cy="1905678"/>
          </a:xfrm>
          <a:prstGeom prst="rect">
            <a:avLst/>
          </a:prstGeom>
        </p:spPr>
      </p:pic>
      <p:sp>
        <p:nvSpPr>
          <p:cNvPr id="19" name="TextBox 18">
            <a:extLst>
              <a:ext uri="{FF2B5EF4-FFF2-40B4-BE49-F238E27FC236}">
                <a16:creationId xmlns:a16="http://schemas.microsoft.com/office/drawing/2014/main" id="{B6147111-B74A-00B0-4926-F88C2A393409}"/>
              </a:ext>
            </a:extLst>
          </p:cNvPr>
          <p:cNvSpPr txBox="1"/>
          <p:nvPr/>
        </p:nvSpPr>
        <p:spPr>
          <a:xfrm>
            <a:off x="8838309" y="3880834"/>
            <a:ext cx="2881587" cy="369332"/>
          </a:xfrm>
          <a:prstGeom prst="rect">
            <a:avLst/>
          </a:prstGeom>
          <a:noFill/>
        </p:spPr>
        <p:txBody>
          <a:bodyPr wrap="square" rtlCol="0">
            <a:spAutoFit/>
          </a:bodyPr>
          <a:lstStyle/>
          <a:p>
            <a:r>
              <a:rPr lang="en-IN" dirty="0"/>
              <a:t>Model Evaluation Results</a:t>
            </a:r>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8FD1EC-773D-6C22-7DDB-E2EF20EBCA42}"/>
              </a:ext>
            </a:extLst>
          </p:cNvPr>
          <p:cNvPicPr>
            <a:picLocks noChangeAspect="1"/>
          </p:cNvPicPr>
          <p:nvPr/>
        </p:nvPicPr>
        <p:blipFill>
          <a:blip r:embed="rId2"/>
          <a:stretch>
            <a:fillRect/>
          </a:stretch>
        </p:blipFill>
        <p:spPr>
          <a:xfrm>
            <a:off x="0" y="1140643"/>
            <a:ext cx="12192000" cy="5717357"/>
          </a:xfrm>
          <a:prstGeom prst="rect">
            <a:avLst/>
          </a:prstGeom>
        </p:spPr>
      </p:pic>
      <p:sp>
        <p:nvSpPr>
          <p:cNvPr id="5" name="TextBox 4">
            <a:extLst>
              <a:ext uri="{FF2B5EF4-FFF2-40B4-BE49-F238E27FC236}">
                <a16:creationId xmlns:a16="http://schemas.microsoft.com/office/drawing/2014/main" id="{9D07CDBF-2010-85DF-495D-C36E67A46697}"/>
              </a:ext>
            </a:extLst>
          </p:cNvPr>
          <p:cNvSpPr txBox="1"/>
          <p:nvPr/>
        </p:nvSpPr>
        <p:spPr>
          <a:xfrm>
            <a:off x="615100" y="454266"/>
            <a:ext cx="6094428" cy="769441"/>
          </a:xfrm>
          <a:prstGeom prst="rect">
            <a:avLst/>
          </a:prstGeom>
          <a:noFill/>
        </p:spPr>
        <p:txBody>
          <a:bodyPr wrap="square">
            <a:spAutoFit/>
          </a:bodyPr>
          <a:lstStyle/>
          <a:p>
            <a:r>
              <a:rPr kumimoji="0" lang="en-US" sz="4400" b="1" i="0" u="none" strike="noStrike" kern="1200" cap="all" spc="0" normalizeH="0" baseline="0" noProof="0" dirty="0">
                <a:ln>
                  <a:noFill/>
                </a:ln>
                <a:solidFill>
                  <a:srgbClr val="1CADE4"/>
                </a:solidFill>
                <a:effectLst/>
                <a:uLnTx/>
                <a:uFillTx/>
                <a:latin typeface="Arial"/>
                <a:ea typeface="+mj-lt"/>
                <a:cs typeface="Arial"/>
              </a:rPr>
              <a:t>Homepage</a:t>
            </a:r>
            <a:endParaRPr lang="en-IN" dirty="0"/>
          </a:p>
        </p:txBody>
      </p:sp>
    </p:spTree>
    <p:extLst>
      <p:ext uri="{BB962C8B-B14F-4D97-AF65-F5344CB8AC3E}">
        <p14:creationId xmlns:p14="http://schemas.microsoft.com/office/powerpoint/2010/main" val="3522850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76C012-5FE4-1083-4424-0F5A5B0514A1}"/>
              </a:ext>
            </a:extLst>
          </p:cNvPr>
          <p:cNvPicPr>
            <a:picLocks noChangeAspect="1"/>
          </p:cNvPicPr>
          <p:nvPr/>
        </p:nvPicPr>
        <p:blipFill>
          <a:blip r:embed="rId2"/>
          <a:stretch>
            <a:fillRect/>
          </a:stretch>
        </p:blipFill>
        <p:spPr>
          <a:xfrm>
            <a:off x="0" y="1140643"/>
            <a:ext cx="5703216" cy="5717357"/>
          </a:xfrm>
          <a:prstGeom prst="rect">
            <a:avLst/>
          </a:prstGeom>
        </p:spPr>
      </p:pic>
      <p:pic>
        <p:nvPicPr>
          <p:cNvPr id="5" name="Picture 4">
            <a:extLst>
              <a:ext uri="{FF2B5EF4-FFF2-40B4-BE49-F238E27FC236}">
                <a16:creationId xmlns:a16="http://schemas.microsoft.com/office/drawing/2014/main" id="{CACA8585-7FCE-B741-0C2D-02F2A02F5766}"/>
              </a:ext>
            </a:extLst>
          </p:cNvPr>
          <p:cNvPicPr>
            <a:picLocks noChangeAspect="1"/>
          </p:cNvPicPr>
          <p:nvPr/>
        </p:nvPicPr>
        <p:blipFill>
          <a:blip r:embed="rId3"/>
          <a:stretch>
            <a:fillRect/>
          </a:stretch>
        </p:blipFill>
        <p:spPr>
          <a:xfrm>
            <a:off x="5703217" y="1140643"/>
            <a:ext cx="6488783" cy="5717357"/>
          </a:xfrm>
          <a:prstGeom prst="rect">
            <a:avLst/>
          </a:prstGeom>
        </p:spPr>
      </p:pic>
      <p:sp>
        <p:nvSpPr>
          <p:cNvPr id="7" name="TextBox 6">
            <a:extLst>
              <a:ext uri="{FF2B5EF4-FFF2-40B4-BE49-F238E27FC236}">
                <a16:creationId xmlns:a16="http://schemas.microsoft.com/office/drawing/2014/main" id="{0DA38404-DE4F-AE84-F97A-D840FAEB79A7}"/>
              </a:ext>
            </a:extLst>
          </p:cNvPr>
          <p:cNvSpPr txBox="1"/>
          <p:nvPr/>
        </p:nvSpPr>
        <p:spPr>
          <a:xfrm>
            <a:off x="370002" y="479611"/>
            <a:ext cx="6094428" cy="769441"/>
          </a:xfrm>
          <a:prstGeom prst="rect">
            <a:avLst/>
          </a:prstGeom>
          <a:noFill/>
        </p:spPr>
        <p:txBody>
          <a:bodyPr wrap="square">
            <a:spAutoFit/>
          </a:bodyPr>
          <a:lstStyle/>
          <a:p>
            <a:r>
              <a:rPr kumimoji="0" lang="en-US" sz="4400" b="1" i="0" u="none" strike="noStrike" kern="1200" cap="all" spc="0" normalizeH="0" baseline="0" noProof="0" dirty="0">
                <a:ln>
                  <a:noFill/>
                </a:ln>
                <a:solidFill>
                  <a:srgbClr val="1CADE4"/>
                </a:solidFill>
                <a:effectLst/>
                <a:uLnTx/>
                <a:uFillTx/>
                <a:latin typeface="Arial"/>
                <a:ea typeface="+mj-lt"/>
                <a:cs typeface="Arial"/>
              </a:rPr>
              <a:t>outputs</a:t>
            </a:r>
            <a:endParaRPr lang="en-IN" dirty="0"/>
          </a:p>
        </p:txBody>
      </p:sp>
    </p:spTree>
    <p:extLst>
      <p:ext uri="{BB962C8B-B14F-4D97-AF65-F5344CB8AC3E}">
        <p14:creationId xmlns:p14="http://schemas.microsoft.com/office/powerpoint/2010/main" val="4119228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3" name="Rectangle 1">
            <a:extLst>
              <a:ext uri="{FF2B5EF4-FFF2-40B4-BE49-F238E27FC236}">
                <a16:creationId xmlns:a16="http://schemas.microsoft.com/office/drawing/2014/main" id="{781E8793-95DD-ACCB-2783-F97C7AFD6B7F}"/>
              </a:ext>
            </a:extLst>
          </p:cNvPr>
          <p:cNvSpPr>
            <a:spLocks noGrp="1" noChangeArrowheads="1"/>
          </p:cNvSpPr>
          <p:nvPr>
            <p:ph idx="1"/>
          </p:nvPr>
        </p:nvSpPr>
        <p:spPr bwMode="auto">
          <a:xfrm>
            <a:off x="581192" y="1232452"/>
            <a:ext cx="11029616"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Pothole Detection System successfully integrates Artificial Intelligence and Deep Learning into a unified road damage detection and monitoring platform.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trained YOLOv8s model achieves 93.9% precision, 82.8% recall, and 84.0% mAP50 on unseen test images, with real-time inference at approximately 63 frames per second.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system goes beyond simple detection by introducing a Severity Classification scheme and a composite Road Health Score, offering administrators a single, interpretable measure of road condition.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By giving the model real-time visual feedback, the system can help municipal administrators prioritise repairs, allocate maintenance budgets, and track road conditions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project demonstrates the practical, real-world impact of AI-driven computer vision in supporting safer, smarter, and more responsive civic infrastructure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Overall, this project establishes a scalable foundation for future intelligent road maintenance systems and smart city infrastructure.</a:t>
            </a:r>
          </a:p>
        </p:txBody>
      </p:sp>
      <p:sp>
        <p:nvSpPr>
          <p:cNvPr id="2" name="Arrow: Right 1">
            <a:extLst>
              <a:ext uri="{FF2B5EF4-FFF2-40B4-BE49-F238E27FC236}">
                <a16:creationId xmlns:a16="http://schemas.microsoft.com/office/drawing/2014/main" id="{6D06D00E-C0D5-089E-D5E5-C6F52716FAAE}"/>
              </a:ext>
            </a:extLst>
          </p:cNvPr>
          <p:cNvSpPr/>
          <p:nvPr/>
        </p:nvSpPr>
        <p:spPr>
          <a:xfrm>
            <a:off x="131975" y="1300899"/>
            <a:ext cx="367646" cy="263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Arrow: Right 3">
            <a:extLst>
              <a:ext uri="{FF2B5EF4-FFF2-40B4-BE49-F238E27FC236}">
                <a16:creationId xmlns:a16="http://schemas.microsoft.com/office/drawing/2014/main" id="{438171EC-FC2E-054E-6EFF-E438E3B3F174}"/>
              </a:ext>
            </a:extLst>
          </p:cNvPr>
          <p:cNvSpPr/>
          <p:nvPr/>
        </p:nvSpPr>
        <p:spPr>
          <a:xfrm>
            <a:off x="131975" y="2045616"/>
            <a:ext cx="367646" cy="263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E67AD942-7AAD-F11C-66C2-918384454B46}"/>
              </a:ext>
            </a:extLst>
          </p:cNvPr>
          <p:cNvSpPr/>
          <p:nvPr/>
        </p:nvSpPr>
        <p:spPr>
          <a:xfrm>
            <a:off x="100552" y="2790333"/>
            <a:ext cx="367646" cy="263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A4EDE25A-A5FC-1DD9-714C-CD431390E555}"/>
              </a:ext>
            </a:extLst>
          </p:cNvPr>
          <p:cNvSpPr/>
          <p:nvPr/>
        </p:nvSpPr>
        <p:spPr>
          <a:xfrm>
            <a:off x="109979" y="3535050"/>
            <a:ext cx="367646" cy="263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Right 7">
            <a:extLst>
              <a:ext uri="{FF2B5EF4-FFF2-40B4-BE49-F238E27FC236}">
                <a16:creationId xmlns:a16="http://schemas.microsoft.com/office/drawing/2014/main" id="{32E9115B-4A71-69BA-BF6A-475CD97ABF91}"/>
              </a:ext>
            </a:extLst>
          </p:cNvPr>
          <p:cNvSpPr/>
          <p:nvPr/>
        </p:nvSpPr>
        <p:spPr>
          <a:xfrm>
            <a:off x="100552" y="4279767"/>
            <a:ext cx="367646" cy="2639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8A2DE0C0-1685-1104-035F-A01F134A3A3C}"/>
              </a:ext>
            </a:extLst>
          </p:cNvPr>
          <p:cNvSpPr/>
          <p:nvPr/>
        </p:nvSpPr>
        <p:spPr>
          <a:xfrm>
            <a:off x="97410" y="4869759"/>
            <a:ext cx="367646" cy="3094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1A77C0C2-96F1-0E9F-AC6F-45F99157FCB5}"/>
              </a:ext>
            </a:extLst>
          </p:cNvPr>
          <p:cNvSpPr>
            <a:spLocks noChangeAspect="1" noChangeArrowheads="1"/>
          </p:cNvSpPr>
          <p:nvPr/>
        </p:nvSpPr>
        <p:spPr bwMode="auto">
          <a:xfrm>
            <a:off x="5943600" y="3276600"/>
            <a:ext cx="249339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EF0F3483-CDB7-006D-5465-131CD5346F98}"/>
              </a:ext>
            </a:extLst>
          </p:cNvPr>
          <p:cNvPicPr>
            <a:picLocks noChangeAspect="1"/>
          </p:cNvPicPr>
          <p:nvPr/>
        </p:nvPicPr>
        <p:blipFill>
          <a:blip r:embed="rId2"/>
          <a:stretch>
            <a:fillRect/>
          </a:stretch>
        </p:blipFill>
        <p:spPr>
          <a:xfrm>
            <a:off x="0" y="546756"/>
            <a:ext cx="12192000" cy="5844618"/>
          </a:xfrm>
          <a:prstGeom prst="rect">
            <a:avLst/>
          </a:prstGeom>
        </p:spPr>
      </p:pic>
    </p:spTree>
    <p:extLst>
      <p:ext uri="{BB962C8B-B14F-4D97-AF65-F5344CB8AC3E}">
        <p14:creationId xmlns:p14="http://schemas.microsoft.com/office/powerpoint/2010/main" val="2865698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9BF0B3-A895-182D-D74E-ABDFC5978C6E}"/>
              </a:ext>
            </a:extLst>
          </p:cNvPr>
          <p:cNvPicPr>
            <a:picLocks noChangeAspect="1"/>
          </p:cNvPicPr>
          <p:nvPr/>
        </p:nvPicPr>
        <p:blipFill>
          <a:blip r:embed="rId2"/>
          <a:stretch>
            <a:fillRect/>
          </a:stretch>
        </p:blipFill>
        <p:spPr>
          <a:xfrm>
            <a:off x="0" y="593890"/>
            <a:ext cx="12192000" cy="5806910"/>
          </a:xfrm>
          <a:prstGeom prst="rect">
            <a:avLst/>
          </a:prstGeom>
        </p:spPr>
      </p:pic>
    </p:spTree>
    <p:extLst>
      <p:ext uri="{BB962C8B-B14F-4D97-AF65-F5344CB8AC3E}">
        <p14:creationId xmlns:p14="http://schemas.microsoft.com/office/powerpoint/2010/main" val="4292790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11" name="Rectangle 4">
            <a:extLst>
              <a:ext uri="{FF2B5EF4-FFF2-40B4-BE49-F238E27FC236}">
                <a16:creationId xmlns:a16="http://schemas.microsoft.com/office/drawing/2014/main" id="{5DA87A84-E837-0C50-85DA-ED667F33CD78}"/>
              </a:ext>
            </a:extLst>
          </p:cNvPr>
          <p:cNvSpPr>
            <a:spLocks noChangeArrowheads="1"/>
          </p:cNvSpPr>
          <p:nvPr/>
        </p:nvSpPr>
        <p:spPr bwMode="auto">
          <a:xfrm>
            <a:off x="474561" y="967304"/>
            <a:ext cx="608371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Ultralytics YOLOv8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https://docs.ultralytics.com/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https://docs.streamlit.io/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OpenCV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https://docs.opencv.org/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Pandas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https://pandas.pydata.org/docs/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NumPy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https://numpy.org/doc/</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PyTorch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https://pytorch.org/docs/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a:ln>
                  <a:noFill/>
                </a:ln>
                <a:solidFill>
                  <a:schemeClr val="tx1"/>
                </a:solidFill>
                <a:effectLst/>
                <a:latin typeface="Arial" panose="020B0604020202020204" pitchFamily="34" charset="0"/>
              </a:rPr>
              <a:t>Roboflow Universe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https://docs.roboflow.com/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800" b="0" i="0" u="none" strike="noStrike" cap="none" normalizeH="0" baseline="0" dirty="0" err="1">
                <a:ln>
                  <a:noFill/>
                </a:ln>
                <a:solidFill>
                  <a:schemeClr val="tx1"/>
                </a:solidFill>
                <a:effectLst/>
                <a:latin typeface="Arial" panose="020B0604020202020204" pitchFamily="34" charset="0"/>
              </a:rPr>
              <a:t>Pothole Detection</a:t>
            </a:r>
            <a:r>
              <a:rPr kumimoji="0" lang="en-US" altLang="en-US" sz="1800" b="0" i="0" u="none" strike="noStrike" cap="none" normalizeH="0" baseline="0" dirty="0">
                <a:ln>
                  <a:noFill/>
                </a:ln>
                <a:solidFill>
                  <a:schemeClr val="tx1"/>
                </a:solidFill>
                <a:effectLst/>
                <a:latin typeface="Arial" panose="020B0604020202020204" pitchFamily="34" charset="0"/>
              </a:rPr>
              <a:t> Dataset (Roboflow Universe)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https://universe.roboflow.com/search?q=pothole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800" b="0" i="0" u="none" strike="noStrike" cap="none" normalizeH="0" baseline="0" dirty="0">
                <a:ln>
                  <a:noFill/>
                </a:ln>
                <a:solidFill>
                  <a:schemeClr val="tx1"/>
                </a:solidFill>
                <a:effectLst/>
                <a:latin typeface="Arial" panose="020B0604020202020204" pitchFamily="34" charset="0"/>
              </a:rPr>
              <a:t>Pothole Detection GitHub Repository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10"/>
              </a:rPr>
              <a:t>https://github.com/Hemaa-varsh/</a:t>
            </a:r>
            <a:r>
              <a:rPr lang="en-US" altLang="en-US" dirty="0">
                <a:latin typeface="Arial" panose="020B0604020202020204" pitchFamily="34" charset="0"/>
                <a:hlinkClick r:id="rId10"/>
              </a:rPr>
              <a:t>P</a:t>
            </a:r>
            <a:r>
              <a:rPr kumimoji="0" lang="en-US" altLang="en-US" sz="1800" b="0" i="0" u="none" strike="noStrike" cap="none" normalizeH="0" baseline="0" dirty="0">
                <a:ln>
                  <a:noFill/>
                </a:ln>
                <a:solidFill>
                  <a:schemeClr val="tx1"/>
                </a:solidFill>
                <a:effectLst/>
                <a:latin typeface="Arial" panose="020B0604020202020204" pitchFamily="34" charset="0"/>
                <a:hlinkClick r:id="rId10"/>
              </a:rPr>
              <a:t>othole-detection-app</a:t>
            </a:r>
            <a:r>
              <a:rPr kumimoji="0" lang="en-US" altLang="en-US" sz="1800" b="0" i="0" u="sng" strike="noStrike" cap="none" normalizeH="0" baseline="0" dirty="0">
                <a:ln>
                  <a:noFill/>
                </a:ln>
                <a:solidFill>
                  <a:schemeClr val="accent5"/>
                </a:solidFill>
                <a:effectLst/>
                <a:latin typeface="Arial" panose="020B0604020202020204" pitchFamily="34" charset="0"/>
              </a:rPr>
              <a:t>.git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644193-88A9-6D40-A8F4-DEC226B9819A}"/>
              </a:ext>
            </a:extLst>
          </p:cNvPr>
          <p:cNvPicPr>
            <a:picLocks noChangeAspect="1"/>
          </p:cNvPicPr>
          <p:nvPr/>
        </p:nvPicPr>
        <p:blipFill>
          <a:blip r:embed="rId2"/>
          <a:stretch>
            <a:fillRect/>
          </a:stretch>
        </p:blipFill>
        <p:spPr>
          <a:xfrm>
            <a:off x="439144" y="1772818"/>
            <a:ext cx="7693819" cy="1158340"/>
          </a:xfrm>
          <a:prstGeom prst="rect">
            <a:avLst/>
          </a:prstGeom>
        </p:spPr>
      </p:pic>
      <p:sp>
        <p:nvSpPr>
          <p:cNvPr id="2" name="Title 1">
            <a:extLst>
              <a:ext uri="{FF2B5EF4-FFF2-40B4-BE49-F238E27FC236}">
                <a16:creationId xmlns:a16="http://schemas.microsoft.com/office/drawing/2014/main" id="{1212439B-AD21-0043-F703-D50666470732}"/>
              </a:ext>
            </a:extLst>
          </p:cNvPr>
          <p:cNvSpPr>
            <a:spLocks noGrp="1"/>
          </p:cNvSpPr>
          <p:nvPr>
            <p:ph type="title"/>
          </p:nvPr>
        </p:nvSpPr>
        <p:spPr/>
        <p:txBody>
          <a:bodyPr/>
          <a:lstStyle/>
          <a:p>
            <a:r>
              <a:rPr lang="en-US" dirty="0" err="1"/>
              <a:t>Github</a:t>
            </a:r>
            <a:r>
              <a:rPr lang="en-US" dirty="0"/>
              <a:t> link/Deployment link</a:t>
            </a:r>
            <a:endParaRPr lang="en-IN" dirty="0"/>
          </a:p>
        </p:txBody>
      </p:sp>
      <p:sp>
        <p:nvSpPr>
          <p:cNvPr id="4" name="TextBox 3">
            <a:extLst>
              <a:ext uri="{FF2B5EF4-FFF2-40B4-BE49-F238E27FC236}">
                <a16:creationId xmlns:a16="http://schemas.microsoft.com/office/drawing/2014/main" id="{C2B20E6F-3CC2-80BD-1CDF-A1441399ECC7}"/>
              </a:ext>
            </a:extLst>
          </p:cNvPr>
          <p:cNvSpPr txBox="1"/>
          <p:nvPr/>
        </p:nvSpPr>
        <p:spPr>
          <a:xfrm flipH="1">
            <a:off x="794202" y="1838227"/>
            <a:ext cx="6568131" cy="923330"/>
          </a:xfrm>
          <a:prstGeom prst="rect">
            <a:avLst/>
          </a:prstGeom>
          <a:noFill/>
        </p:spPr>
        <p:txBody>
          <a:bodyPr wrap="square" rtlCol="0">
            <a:spAutoFit/>
          </a:bodyPr>
          <a:lstStyle/>
          <a:p>
            <a:r>
              <a:rPr lang="en-US" b="1" dirty="0">
                <a:solidFill>
                  <a:srgbClr val="00BCD4"/>
                </a:solidFill>
                <a:latin typeface="Calibri" panose="020F0502020204030204" pitchFamily="34" charset="0"/>
                <a:ea typeface="Calibri" panose="020F0502020204030204" pitchFamily="34" charset="-122"/>
                <a:cs typeface="Calibri" panose="020F0502020204030204" pitchFamily="34" charset="-120"/>
              </a:rPr>
              <a:t>🐙  GitHub Repository</a:t>
            </a:r>
          </a:p>
          <a:p>
            <a:endParaRPr lang="en-US" b="1" dirty="0">
              <a:solidFill>
                <a:srgbClr val="00BCD4"/>
              </a:solidFill>
              <a:latin typeface="Calibri" panose="020F0502020204030204" pitchFamily="34" charset="0"/>
              <a:ea typeface="Calibri" panose="020F0502020204030204" pitchFamily="34" charset="-122"/>
              <a:cs typeface="Calibri" panose="020F0502020204030204" pitchFamily="34" charset="-120"/>
            </a:endParaRPr>
          </a:p>
          <a:p>
            <a:r>
              <a:rPr lang="en-IN" dirty="0">
                <a:hlinkClick r:id="rId3"/>
              </a:rPr>
              <a:t>https://github.com/Hemaa-varsh/Pothole-detection-app.git</a:t>
            </a:r>
            <a:endParaRPr lang="en-US" dirty="0"/>
          </a:p>
        </p:txBody>
      </p:sp>
      <p:pic>
        <p:nvPicPr>
          <p:cNvPr id="6" name="Picture 5">
            <a:extLst>
              <a:ext uri="{FF2B5EF4-FFF2-40B4-BE49-F238E27FC236}">
                <a16:creationId xmlns:a16="http://schemas.microsoft.com/office/drawing/2014/main" id="{6CAB14FC-4488-D5FF-D997-33CDE1B1F0B9}"/>
              </a:ext>
            </a:extLst>
          </p:cNvPr>
          <p:cNvPicPr>
            <a:picLocks noChangeAspect="1"/>
          </p:cNvPicPr>
          <p:nvPr/>
        </p:nvPicPr>
        <p:blipFill>
          <a:blip r:embed="rId2"/>
          <a:stretch>
            <a:fillRect/>
          </a:stretch>
        </p:blipFill>
        <p:spPr>
          <a:xfrm>
            <a:off x="439144" y="3926842"/>
            <a:ext cx="7693819" cy="1158340"/>
          </a:xfrm>
          <a:prstGeom prst="rect">
            <a:avLst/>
          </a:prstGeom>
        </p:spPr>
      </p:pic>
      <p:sp>
        <p:nvSpPr>
          <p:cNvPr id="7" name="TextBox 6">
            <a:extLst>
              <a:ext uri="{FF2B5EF4-FFF2-40B4-BE49-F238E27FC236}">
                <a16:creationId xmlns:a16="http://schemas.microsoft.com/office/drawing/2014/main" id="{D16505A2-6201-9C53-3F18-E30DC66829D8}"/>
              </a:ext>
            </a:extLst>
          </p:cNvPr>
          <p:cNvSpPr txBox="1"/>
          <p:nvPr/>
        </p:nvSpPr>
        <p:spPr>
          <a:xfrm>
            <a:off x="794202" y="4044347"/>
            <a:ext cx="4517070" cy="923330"/>
          </a:xfrm>
          <a:prstGeom prst="rect">
            <a:avLst/>
          </a:prstGeom>
          <a:noFill/>
        </p:spPr>
        <p:txBody>
          <a:bodyPr wrap="none" rtlCol="0">
            <a:spAutoFit/>
          </a:bodyPr>
          <a:lstStyle/>
          <a:p>
            <a:r>
              <a:rPr lang="en-US" b="1" dirty="0">
                <a:solidFill>
                  <a:srgbClr val="00BCD4"/>
                </a:solidFill>
                <a:latin typeface="Calibri" panose="020F0502020204030204" pitchFamily="34" charset="0"/>
                <a:ea typeface="Calibri" panose="020F0502020204030204" pitchFamily="34" charset="-122"/>
                <a:cs typeface="Calibri" panose="020F0502020204030204" pitchFamily="34" charset="-120"/>
              </a:rPr>
              <a:t>🚀  Deployment Link (</a:t>
            </a:r>
            <a:r>
              <a:rPr lang="en-US" b="1" dirty="0" err="1">
                <a:solidFill>
                  <a:srgbClr val="00BCD4"/>
                </a:solidFill>
                <a:latin typeface="Calibri" panose="020F0502020204030204" pitchFamily="34" charset="0"/>
                <a:ea typeface="Calibri" panose="020F0502020204030204" pitchFamily="34" charset="-122"/>
                <a:cs typeface="Calibri" panose="020F0502020204030204" pitchFamily="34" charset="-120"/>
              </a:rPr>
              <a:t>Streamlit</a:t>
            </a:r>
            <a:r>
              <a:rPr lang="en-US" b="1" dirty="0">
                <a:solidFill>
                  <a:srgbClr val="00BCD4"/>
                </a:solidFill>
                <a:latin typeface="Calibri" panose="020F0502020204030204" pitchFamily="34" charset="0"/>
                <a:ea typeface="Calibri" panose="020F0502020204030204" pitchFamily="34" charset="-122"/>
                <a:cs typeface="Calibri" panose="020F0502020204030204" pitchFamily="34" charset="-120"/>
              </a:rPr>
              <a:t>)</a:t>
            </a:r>
            <a:endParaRPr lang="en-US" dirty="0"/>
          </a:p>
          <a:p>
            <a:endParaRPr lang="en-IN" dirty="0"/>
          </a:p>
          <a:p>
            <a:r>
              <a:rPr lang="en-IN" dirty="0">
                <a:hlinkClick r:id="rId4"/>
              </a:rPr>
              <a:t>https://pothole-detection-app.streamlit.app/</a:t>
            </a:r>
            <a:endParaRPr lang="en-IN" dirty="0"/>
          </a:p>
        </p:txBody>
      </p:sp>
    </p:spTree>
    <p:extLst>
      <p:ext uri="{BB962C8B-B14F-4D97-AF65-F5344CB8AC3E}">
        <p14:creationId xmlns:p14="http://schemas.microsoft.com/office/powerpoint/2010/main" val="889078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1797</TotalTime>
  <Words>963</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Franklin Gothic Book</vt:lpstr>
      <vt:lpstr>Franklin Gothic Demi</vt:lpstr>
      <vt:lpstr>Wingdings 2</vt:lpstr>
      <vt:lpstr>DividendVTI</vt:lpstr>
      <vt:lpstr>ReAl-Time Pothole Detection &amp; Smart Road Monitoring Using Computer Vision and Deep Learning</vt:lpstr>
      <vt:lpstr>OUTLINE</vt:lpstr>
      <vt:lpstr>Problem Statement</vt:lpstr>
      <vt:lpstr>Proposed Solution</vt:lpstr>
      <vt:lpstr>System  Approach</vt:lpstr>
      <vt:lpstr>PowerPoint Presentation</vt:lpstr>
      <vt:lpstr>Algorithm &amp; Deployment</vt:lpstr>
      <vt:lpstr>Result stasistics</vt:lpstr>
      <vt:lpstr>PowerPoint Presentation</vt:lpstr>
      <vt:lpstr>PowerPoint Presentation</vt:lpstr>
      <vt:lpstr>Conclusion</vt:lpstr>
      <vt:lpstr>PowerPoint Presentation</vt:lpstr>
      <vt:lpstr>PowerPoint Presentation</vt:lpstr>
      <vt:lpstr>References</vt:lpstr>
      <vt:lpstr>Github link/Deployment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Hema M</cp:lastModifiedBy>
  <cp:revision>40</cp:revision>
  <dcterms:created xsi:type="dcterms:W3CDTF">2021-05-26T16:50:10Z</dcterms:created>
  <dcterms:modified xsi:type="dcterms:W3CDTF">2026-06-20T15:17:58Z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